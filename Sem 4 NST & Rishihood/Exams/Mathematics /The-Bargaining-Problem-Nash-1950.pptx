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sv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sv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sv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sv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sv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sv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sv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image" Target="../media/image-13-8.png"/><Relationship Id="rId9" Type="http://schemas.openxmlformats.org/officeDocument/2006/relationships/image" Target="../media/image-13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71550"/>
            <a:ext cx="320040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953" y="844228"/>
            <a:ext cx="2219325" cy="223838"/>
          </a:xfrm>
          <a:prstGeom prst="roundRect">
            <a:avLst>
              <a:gd name="adj" fmla="val 4346"/>
            </a:avLst>
          </a:prstGeom>
          <a:ln w="4763">
            <a:solidFill>
              <a:srgbClr val="38BDF8">
                <a:alpha val="40000"/>
              </a:srgbClr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Aft>
                <a:spcPts val="1215"/>
              </a:spcAft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NEWTON SCHOOL OF TECHNOLOGY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548580" y="1220949"/>
            <a:ext cx="5029200" cy="595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spcAft>
                <a:spcPts val="405"/>
              </a:spcAft>
              <a:buNone/>
            </a:pPr>
            <a:r>
              <a:rPr lang="en-US" sz="46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Bargaining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548580" y="1866714"/>
            <a:ext cx="5029200" cy="595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spcAft>
                <a:spcPts val="810"/>
              </a:spcAft>
              <a:buNone/>
            </a:pPr>
            <a:r>
              <a:rPr lang="en-US" sz="46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4600" dirty="0"/>
          </a:p>
        </p:txBody>
      </p:sp>
      <p:sp>
        <p:nvSpPr>
          <p:cNvPr id="8" name="Shape 4"/>
          <p:cNvSpPr/>
          <p:nvPr/>
        </p:nvSpPr>
        <p:spPr>
          <a:xfrm>
            <a:off x="547613" y="2564383"/>
            <a:ext cx="733425" cy="14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5"/>
          <p:cNvSpPr/>
          <p:nvPr/>
        </p:nvSpPr>
        <p:spPr>
          <a:xfrm>
            <a:off x="549511" y="2733303"/>
            <a:ext cx="3838575" cy="438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Aft>
                <a:spcPts val="2025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Deep Dive Into John Nash's 1950 Foundation of Game Theory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580" y="3429595"/>
            <a:ext cx="502920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pPr algn="l" indent="0" marL="0">
              <a:lnSpc>
                <a:spcPts val="1584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Narendra Singh </a:t>
            </a:r>
            <a:pPr algn="l" indent="0" marL="0">
              <a:lnSpc>
                <a:spcPts val="1584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 2401010292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48580" y="3630811"/>
            <a:ext cx="502920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pPr algn="l" indent="0" marL="0">
              <a:lnSpc>
                <a:spcPts val="1584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Ranajeet Roy </a:t>
            </a:r>
            <a:pPr algn="l" indent="0" marL="0">
              <a:lnSpc>
                <a:spcPts val="1584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 2401010372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548580" y="3832027"/>
            <a:ext cx="502920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pPr algn="l" indent="0" marL="0">
              <a:lnSpc>
                <a:spcPts val="1584"/>
              </a:lnSpc>
              <a:buNone/>
            </a:pPr>
            <a:r>
              <a:rPr lang="en-US" sz="7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Abhijeet Kumar </a:t>
            </a:r>
            <a:pPr algn="l" indent="0" marL="0">
              <a:lnSpc>
                <a:spcPts val="1584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 2401010015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548580" y="4160751"/>
            <a:ext cx="50292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1013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May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548580" y="415305"/>
            <a:ext cx="14288" cy="20478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54174" y="258180"/>
            <a:ext cx="4143375" cy="5191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Should You Care?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7688" y="855390"/>
            <a:ext cx="8048625" cy="476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9511" y="962509"/>
            <a:ext cx="3838575" cy="3924300"/>
          </a:xfrm>
          <a:prstGeom prst="roundRect">
            <a:avLst>
              <a:gd name="adj" fmla="val 118"/>
            </a:avLst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4273" y="967048"/>
            <a:ext cx="3829050" cy="261937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DRAKE MEME (NASH EDITION)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54273" y="1228390"/>
            <a:ext cx="3829050" cy="1828800"/>
          </a:xfrm>
          <a:prstGeom prst="rect">
            <a:avLst/>
          </a:prstGeom>
          <a:solidFill>
            <a:srgbClr val="141F30"/>
          </a:solidFill>
          <a:ln/>
        </p:spPr>
      </p:sp>
      <p:sp>
        <p:nvSpPr>
          <p:cNvPr id="9" name="Text 7"/>
          <p:cNvSpPr/>
          <p:nvPr/>
        </p:nvSpPr>
        <p:spPr>
          <a:xfrm>
            <a:off x="736625" y="1866528"/>
            <a:ext cx="547687" cy="547687"/>
          </a:xfrm>
          <a:prstGeom prst="roundRect">
            <a:avLst>
              <a:gd name="adj" fmla="val 5807"/>
            </a:avLst>
          </a:prstGeom>
          <a:solidFill>
            <a:srgbClr val="0A1628"/>
          </a:solidFill>
          <a:ln w="9525">
            <a:solidFill>
              <a:srgbClr val="94A3B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68450" y="1947490"/>
            <a:ext cx="1990725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Adding utilities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u₁ + u₂ = 100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(could be 100+0 or 1+99)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4273" y="3057413"/>
            <a:ext cx="3829050" cy="1824037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2" name="Text 10"/>
          <p:cNvSpPr/>
          <p:nvPr/>
        </p:nvSpPr>
        <p:spPr>
          <a:xfrm>
            <a:off x="736625" y="3695551"/>
            <a:ext cx="547687" cy="547687"/>
          </a:xfrm>
          <a:prstGeom prst="roundRect">
            <a:avLst>
              <a:gd name="adj" fmla="val 5807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67892" y="3776514"/>
            <a:ext cx="1947862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Multiplying utilities </a:t>
            </a:r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(Nash)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u₁ × u₂ = 2500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only when u₁ = u₂ = 50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5803" y="1609130"/>
            <a:ext cx="3838575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trade deal. Every salary negotiation. Every tariff standoff. Every international treaty.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5803" y="2260178"/>
            <a:ext cx="38385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of these are bargaining problems.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5803" y="2557090"/>
            <a:ext cx="3838575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1950, Nash gave them all a single, provably unique answer.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5803" y="3033638"/>
            <a:ext cx="3838575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paper is only 7 pages. The idea changed economics forever.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5803" y="3623146"/>
            <a:ext cx="3838575" cy="619125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spcBef>
                <a:spcPts val="405"/>
              </a:spcBef>
              <a:buNone/>
            </a:pPr>
            <a:r>
              <a:rPr lang="en-US" sz="1000" i="1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"Every trade, every salary talk, every tariff deal is a bargaining problem. Nash gave it a single answer."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273" y="1228390"/>
            <a:ext cx="3829050" cy="182880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5803" y="3623146"/>
            <a:ext cx="3838575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548580" y="415305"/>
            <a:ext cx="14288" cy="20478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54844" y="258180"/>
            <a:ext cx="2919412" cy="5191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Meet John Nash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7688" y="855390"/>
            <a:ext cx="8048625" cy="476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4813" y="1802011"/>
            <a:ext cx="1647825" cy="1647825"/>
          </a:xfrm>
          <a:prstGeom prst="roundRect">
            <a:avLst>
              <a:gd name="adj" fmla="val 642"/>
            </a:avLst>
          </a:prstGeom>
          <a:solidFill>
            <a:srgbClr val="1B2838"/>
          </a:solidFill>
          <a:ln w="9525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8679" y="2015877"/>
            <a:ext cx="1220093" cy="12200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7613" y="3602273"/>
            <a:ext cx="2562225" cy="547687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5732" y="3685170"/>
            <a:ext cx="218598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John F. Nash Jr.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5732" y="3929621"/>
            <a:ext cx="21859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1928 — 2015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566145" y="1844873"/>
            <a:ext cx="5029200" cy="652463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2" name="Text 9"/>
          <p:cNvSpPr/>
          <p:nvPr/>
        </p:nvSpPr>
        <p:spPr>
          <a:xfrm>
            <a:off x="3763640" y="1999655"/>
            <a:ext cx="547687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493828" y="1978223"/>
            <a:ext cx="3914775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Princeton grad student when he wrote this paper. Just a 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21-year-old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reshaping economics.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566145" y="2649810"/>
            <a:ext cx="5029200" cy="652463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5" name="Text 12"/>
          <p:cNvSpPr/>
          <p:nvPr/>
        </p:nvSpPr>
        <p:spPr>
          <a:xfrm>
            <a:off x="3763640" y="2804592"/>
            <a:ext cx="547687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1994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493828" y="2783160"/>
            <a:ext cx="3914775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Nobel Memorial Prize in Economic Sciences, jointly awarded for his work on game theory.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66145" y="3454747"/>
            <a:ext cx="5029200" cy="652463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8" name="Text 15"/>
          <p:cNvSpPr/>
          <p:nvPr/>
        </p:nvSpPr>
        <p:spPr>
          <a:xfrm>
            <a:off x="3763640" y="3609529"/>
            <a:ext cx="547687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7 pg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493828" y="3588097"/>
            <a:ext cx="3914775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entire paper is just 7 pages. Subject of "A Beautiful Mind" (2001). One of the most cited papers in economics.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6145" y="1844873"/>
            <a:ext cx="5029200" cy="652463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6145" y="2649810"/>
            <a:ext cx="5029200" cy="652463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6145" y="3454747"/>
            <a:ext cx="5029200" cy="6524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580" y="394767"/>
            <a:ext cx="14288" cy="20478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654993" y="256691"/>
            <a:ext cx="4081462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Bargaining Problem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7688" y="814313"/>
            <a:ext cx="8048625" cy="476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48580" y="1025426"/>
            <a:ext cx="7315200" cy="466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3"/>
              </a:lnSpc>
              <a:spcAft>
                <a:spcPts val="162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rational individuals can collaborate for mutual benefit. Neither can harm the other unilaterally. The question: </a:t>
            </a:r>
            <a:pPr algn="l" indent="0" marL="0">
              <a:lnSpc>
                <a:spcPts val="1843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bargain will they agree to?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18" y="1699357"/>
            <a:ext cx="3886200" cy="3186113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980" y="1857487"/>
            <a:ext cx="341947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PLAYERS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80827" y="2231529"/>
            <a:ext cx="10953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25649" y="2229892"/>
            <a:ext cx="3176587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rational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individuals with clearly defined preferences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0827" y="2718346"/>
            <a:ext cx="10953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7547" y="2718346"/>
            <a:ext cx="31146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wants to 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maximize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their own utility (happiness)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0827" y="3013174"/>
            <a:ext cx="10953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6765" y="3013174"/>
            <a:ext cx="25908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cannot 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force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 outcome on the other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81496" y="4097945"/>
            <a:ext cx="1619250" cy="628650"/>
          </a:xfrm>
          <a:prstGeom prst="rect">
            <a:avLst/>
          </a:prstGeom>
          <a:solidFill>
            <a:srgbClr val="38BDF8">
              <a:alpha val="10000"/>
            </a:srgbClr>
          </a:solidFill>
          <a:ln w="4763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615" y="4179094"/>
            <a:ext cx="1243013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P₁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69615" y="4521808"/>
            <a:ext cx="124301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Player One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2582689" y="4097945"/>
            <a:ext cx="1619250" cy="628650"/>
          </a:xfrm>
          <a:prstGeom prst="rect">
            <a:avLst/>
          </a:prstGeom>
          <a:solidFill>
            <a:srgbClr val="38BDF8">
              <a:alpha val="10000"/>
            </a:srgbClr>
          </a:solidFill>
          <a:ln w="4763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70808" y="4179094"/>
            <a:ext cx="1243013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770808" y="4521808"/>
            <a:ext cx="124301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Player Two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4709182" y="1699357"/>
            <a:ext cx="3886200" cy="3186113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42545" y="1857487"/>
            <a:ext cx="341947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WHAT'S AT STAKE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941391" y="2231529"/>
            <a:ext cx="10953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186214" y="2229892"/>
            <a:ext cx="3176587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feasible set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possible agreements, each giving both players some payoff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941391" y="2718346"/>
            <a:ext cx="10953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186214" y="2716709"/>
            <a:ext cx="3176587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disagreement point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what each gets if no deal is reached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941391" y="3205163"/>
            <a:ext cx="10953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186214" y="3203525"/>
            <a:ext cx="3176587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surplus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divide: the gain from cooperating vs. walking away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942545" y="4155728"/>
            <a:ext cx="3419475" cy="571500"/>
          </a:xfrm>
          <a:prstGeom prst="rect">
            <a:avLst/>
          </a:prstGeom>
          <a:solidFill>
            <a:srgbClr val="38BDF8">
              <a:alpha val="8000"/>
            </a:srgbClr>
          </a:solidFill>
          <a:ln w="4763">
            <a:solidFill>
              <a:srgbClr val="38BDF8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4"/>
              </a:lnSpc>
              <a:spcBef>
                <a:spcPts val="3657"/>
              </a:spcBef>
              <a:buNone/>
            </a:pPr>
            <a:r>
              <a:rPr lang="en-US" sz="9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both agree, they share the surplus. If either walks away, both get the disagreement outcome.</a:t>
            </a:r>
            <a:endParaRPr lang="en-US" sz="9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980" y="1857487"/>
            <a:ext cx="3419475" cy="219075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2545" y="1857487"/>
            <a:ext cx="341947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1828800" cy="18288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4700"/>
            <a:ext cx="1828800" cy="18288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580" y="394767"/>
            <a:ext cx="14288" cy="20478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2"/>
          <p:cNvSpPr/>
          <p:nvPr/>
        </p:nvSpPr>
        <p:spPr>
          <a:xfrm>
            <a:off x="654955" y="256691"/>
            <a:ext cx="3700463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Four Idealizations</a:t>
            </a:r>
            <a:endParaRPr lang="en-US" sz="2500" dirty="0"/>
          </a:p>
        </p:txBody>
      </p:sp>
      <p:sp>
        <p:nvSpPr>
          <p:cNvPr id="7" name="Shape 3"/>
          <p:cNvSpPr/>
          <p:nvPr/>
        </p:nvSpPr>
        <p:spPr>
          <a:xfrm>
            <a:off x="547688" y="814313"/>
            <a:ext cx="8048625" cy="476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48618" y="1024086"/>
            <a:ext cx="3886200" cy="1747838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971962" y="1132359"/>
            <a:ext cx="276225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1348" y="1183965"/>
            <a:ext cx="1238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95139" y="1183965"/>
            <a:ext cx="117633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Highly Rational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980" y="1479947"/>
            <a:ext cx="3419475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players make decisions that maximize their own utility. No impulse, no emotion, no spite.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709182" y="1024086"/>
            <a:ext cx="3886200" cy="1747838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32527" y="1132359"/>
            <a:ext cx="276225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41912" y="1183965"/>
            <a:ext cx="1238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156411" y="1183965"/>
            <a:ext cx="181451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Perfect Self-Knowledge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42545" y="1479947"/>
            <a:ext cx="3419475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player knows their own preferences perfectly. No self-doubt, no shifting goalposts.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18" y="2899172"/>
            <a:ext cx="3886200" cy="1747838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971962" y="3007444"/>
            <a:ext cx="276225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781348" y="3059050"/>
            <a:ext cx="1238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96702" y="3059050"/>
            <a:ext cx="16859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Equal Bargaining Skill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81980" y="3355032"/>
            <a:ext cx="3419475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Neither player is a better negotiator. Both use strategy with equal sophistication.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709182" y="2899172"/>
            <a:ext cx="3886200" cy="1747838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32527" y="3007444"/>
            <a:ext cx="276225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4941912" y="3059050"/>
            <a:ext cx="1238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156225" y="3059050"/>
            <a:ext cx="123348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Information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942545" y="3355032"/>
            <a:ext cx="3419475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players know each other's preferences and available options. No hidden cards.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47688" y="4748696"/>
            <a:ext cx="80486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spcBef>
                <a:spcPts val="810"/>
              </a:spcBef>
              <a:buNone/>
            </a:pPr>
            <a:r>
              <a:rPr lang="en-US" sz="700" i="1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These are normative simplifications, not descriptive claims. The model tells us what rational agents should do.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548580" y="394767"/>
            <a:ext cx="14288" cy="20478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54025" y="256691"/>
            <a:ext cx="7229475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Utility Theory (von Neumann-Morgenstern)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7688" y="814313"/>
            <a:ext cx="8048625" cy="476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7688" y="1024496"/>
            <a:ext cx="8048625" cy="647700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92"/>
              </a:lnSpc>
              <a:buNone/>
            </a:pPr>
            <a:r>
              <a:rPr lang="en-US" sz="17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Utility</a:t>
            </a:r>
            <a:pPr algn="ctr" indent="0" marL="0">
              <a:lnSpc>
                <a:spcPts val="216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= a numerical measure of how much a player </a:t>
            </a:r>
            <a:pPr algn="ctr" indent="0" marL="0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prefers</a:t>
            </a:r>
            <a:pPr algn="ctr" indent="0" marL="0">
              <a:lnSpc>
                <a:spcPts val="216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 outcome.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7688" y="1851124"/>
            <a:ext cx="8048625" cy="685800"/>
          </a:xfrm>
          <a:prstGeom prst="rect">
            <a:avLst/>
          </a:prstGeom>
          <a:solidFill>
            <a:srgbClr val="0A1628"/>
          </a:solidFill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1912" y="1783891"/>
            <a:ext cx="2166938" cy="138113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EXPECTED UTILITY FORMULA (VN-M)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23925" y="2015430"/>
            <a:ext cx="729615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8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u(pA + (1-p)B) = p·u(A) + (1-p)·u(B)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18" y="2690589"/>
            <a:ext cx="3886200" cy="2195513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1" name="Text 9"/>
          <p:cNvSpPr/>
          <p:nvPr/>
        </p:nvSpPr>
        <p:spPr>
          <a:xfrm>
            <a:off x="791505" y="2824460"/>
            <a:ext cx="340995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Scale Invariance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1505" y="3092425"/>
            <a:ext cx="340995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Utilities are unique only up to an affine transformation: </a:t>
            </a:r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au + b</a:t>
            </a:r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where </a:t>
            </a:r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&gt; 0</a:t>
            </a:r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1505" y="3559969"/>
            <a:ext cx="3409950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plain English: the zero and the scale don't matter. What matters is the </a:t>
            </a:r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 of gains</a:t>
            </a:r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9182" y="2690589"/>
            <a:ext cx="3886200" cy="2195513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5" name="Text 13"/>
          <p:cNvSpPr/>
          <p:nvPr/>
        </p:nvSpPr>
        <p:spPr>
          <a:xfrm>
            <a:off x="4952070" y="2824460"/>
            <a:ext cx="340995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Why It Matters Here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52070" y="3092425"/>
            <a:ext cx="340995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Because utilities are rescalable, any fair bargaining rule must be </a:t>
            </a:r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invariant</a:t>
            </a:r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how we set the scale for each player.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52070" y="3549104"/>
            <a:ext cx="34099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Nash's third axiom, and it's not obvious at all.</a:t>
            </a:r>
            <a:endParaRPr lang="en-US" sz="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18" y="2690589"/>
            <a:ext cx="3886200" cy="2195513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9182" y="2690589"/>
            <a:ext cx="3886200" cy="21955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548580" y="394767"/>
            <a:ext cx="14288" cy="20478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53207" y="256691"/>
            <a:ext cx="3543300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Geometric Setup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7688" y="814313"/>
            <a:ext cx="8048625" cy="476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580" y="1129605"/>
            <a:ext cx="4572000" cy="3600450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33" y="1288628"/>
            <a:ext cx="4013895" cy="32824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78115" y="1598340"/>
            <a:ext cx="1143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29151" y="1597000"/>
            <a:ext cx="2767013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 feasible set: all utility pairs achievable by some agreement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578115" y="2110904"/>
            <a:ext cx="1143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29151" y="2109564"/>
            <a:ext cx="2767013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(0, 0)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 disagreement point: what each player gets if talks fail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578115" y="2623468"/>
            <a:ext cx="1143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29151" y="2622128"/>
            <a:ext cx="2767013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must be convex and compact (closed + bounded)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8115" y="3136032"/>
            <a:ext cx="1143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29151" y="3134692"/>
            <a:ext cx="2767013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dashed curves are </a:t>
            </a:r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iso-product lines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all points where u₁ × u₂ = constant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6888" y="3699644"/>
            <a:ext cx="3019425" cy="561975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4"/>
              </a:lnSpc>
              <a:spcBef>
                <a:spcPts val="405"/>
              </a:spcBef>
              <a:buNone/>
            </a:pPr>
            <a:r>
              <a:rPr lang="en-US" sz="900" i="1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dot inside S is one possible bargain. Nash tells us which dot is the uniquely fair one.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6888" y="3699644"/>
            <a:ext cx="3019425" cy="561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110" y="0"/>
            <a:ext cx="1645890" cy="164589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7610"/>
            <a:ext cx="1645890" cy="164589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580" y="394767"/>
            <a:ext cx="14288" cy="20478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2"/>
          <p:cNvSpPr/>
          <p:nvPr/>
        </p:nvSpPr>
        <p:spPr>
          <a:xfrm>
            <a:off x="653430" y="256691"/>
            <a:ext cx="4743450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Four Axioms of Fairness</a:t>
            </a:r>
            <a:endParaRPr lang="en-US" sz="2500" dirty="0"/>
          </a:p>
        </p:txBody>
      </p:sp>
      <p:sp>
        <p:nvSpPr>
          <p:cNvPr id="7" name="Shape 3"/>
          <p:cNvSpPr/>
          <p:nvPr/>
        </p:nvSpPr>
        <p:spPr>
          <a:xfrm>
            <a:off x="547688" y="814313"/>
            <a:ext cx="8048625" cy="476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48618" y="1024533"/>
            <a:ext cx="3886200" cy="1866900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1348" y="1158292"/>
            <a:ext cx="1238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94879" y="1165399"/>
            <a:ext cx="12763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Pareto Optimality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81980" y="1454088"/>
            <a:ext cx="3419475" cy="571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Don't leave surplus on the table. The agreed outcome must be such that no one can do better without making the other worse off.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81980" y="2101974"/>
            <a:ext cx="3419475" cy="233362"/>
          </a:xfrm>
          <a:prstGeom prst="rect">
            <a:avLst/>
          </a:prstGeom>
          <a:solidFill>
            <a:srgbClr val="38BDF8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No wasted gains.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4709182" y="1024533"/>
            <a:ext cx="3886200" cy="1866900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41912" y="1158292"/>
            <a:ext cx="1238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157601" y="1165399"/>
            <a:ext cx="7429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Symmetry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42545" y="1454088"/>
            <a:ext cx="3419475" cy="571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both players are identical (same feasible set, same disagreement point), then fairness demands an equal split. No favoritism.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942545" y="2101974"/>
            <a:ext cx="3419475" cy="233362"/>
          </a:xfrm>
          <a:prstGeom prst="rect">
            <a:avLst/>
          </a:prstGeom>
          <a:solidFill>
            <a:srgbClr val="38BDF8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Equal players, equal payoff.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548618" y="3019611"/>
            <a:ext cx="3886200" cy="1866900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81348" y="3153333"/>
            <a:ext cx="1238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95846" y="3160440"/>
            <a:ext cx="28622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Independence of Irrelevant Alternatives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81980" y="3449129"/>
            <a:ext cx="3419475" cy="571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the solution is inside a smaller feasible set, shrinking the set does not change the solution (as long as the solution remains feasible).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81980" y="4097015"/>
            <a:ext cx="3419475" cy="233362"/>
          </a:xfrm>
          <a:prstGeom prst="rect">
            <a:avLst/>
          </a:prstGeom>
          <a:solidFill>
            <a:srgbClr val="38BDF8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Removing bad options changes nothing.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4709182" y="3019611"/>
            <a:ext cx="3886200" cy="1866900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941912" y="3153333"/>
            <a:ext cx="1238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155592" y="3160440"/>
            <a:ext cx="12239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Affine Invariance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942545" y="3449315"/>
            <a:ext cx="3419475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Rescaling a player's utility (au + b, a &gt; 0) does not change which outcome is selected. The solution is scale-free.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942545" y="3906887"/>
            <a:ext cx="3419475" cy="233362"/>
          </a:xfrm>
          <a:prstGeom prst="rect">
            <a:avLst/>
          </a:prstGeom>
          <a:solidFill>
            <a:srgbClr val="38BDF8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Invariant to utility rescaling.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48087" y="815653"/>
            <a:ext cx="16478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NASH'S THEOREM (1950)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2264569" y="1070595"/>
            <a:ext cx="4614863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Aft>
                <a:spcPts val="2025"/>
              </a:spcAft>
              <a:buNone/>
            </a:pPr>
            <a:r>
              <a:rPr lang="en-US" sz="28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Unique Fair Bargain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876053"/>
            <a:ext cx="7315200" cy="1238250"/>
          </a:xfrm>
          <a:prstGeom prst="rect">
            <a:avLst/>
          </a:prstGeom>
          <a:solidFill>
            <a:srgbClr val="1B2838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67125" y="1792374"/>
            <a:ext cx="1809750" cy="138113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NASH BARGAINING SOLUTION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471613" y="2142790"/>
            <a:ext cx="6200775" cy="4476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28"/>
              </a:lnSpc>
              <a:buNone/>
            </a:pPr>
            <a:r>
              <a:rPr lang="en-US" sz="25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c(S) = </a:t>
            </a:r>
            <a:pPr algn="ctr" indent="0" marL="0">
              <a:lnSpc>
                <a:spcPts val="3528"/>
              </a:lnSpc>
              <a:buNone/>
            </a:pPr>
            <a:r>
              <a:rPr lang="en-US" sz="25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arg max</a:t>
            </a:r>
            <a:pPr algn="ctr" indent="0" marL="0">
              <a:lnSpc>
                <a:spcPts val="3528"/>
              </a:lnSpc>
              <a:buNone/>
            </a:pPr>
            <a:r>
              <a:rPr lang="en-US" sz="25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u₁ × u₂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1471613" y="2642518"/>
            <a:ext cx="62007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Bef>
                <a:spcPts val="405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subject to (u₁, u₂) ∈ S, u₁ ≥ 0, u₂ ≥ 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00200" y="3320802"/>
            <a:ext cx="5943600" cy="466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3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Multiply the two players' gains above their disagreement points. Pick the deal with the biggest product.</a:t>
            </a:r>
            <a:pPr algn="ctr" indent="0" marL="0">
              <a:lnSpc>
                <a:spcPts val="1843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 is the unique fair bargain.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05288" y="3993877"/>
            <a:ext cx="733425" cy="14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9"/>
          <p:cNvSpPr/>
          <p:nvPr/>
        </p:nvSpPr>
        <p:spPr>
          <a:xfrm>
            <a:off x="3026532" y="4161383"/>
            <a:ext cx="309086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Bef>
                <a:spcPts val="1215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Four axioms. One solution. Uniquely determined.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548580" y="394767"/>
            <a:ext cx="14288" cy="20478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53690" y="256691"/>
            <a:ext cx="3995737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Multiply, Not Add?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7688" y="814313"/>
            <a:ext cx="8048625" cy="476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097" y="1024347"/>
            <a:ext cx="4024312" cy="3862387"/>
          </a:xfrm>
          <a:prstGeom prst="roundRect">
            <a:avLst>
              <a:gd name="adj" fmla="val 117"/>
            </a:avLst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859" y="1028812"/>
            <a:ext cx="4014788" cy="261937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DRAKE MEME (UTILITY EDITION)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52859" y="1289000"/>
            <a:ext cx="4014788" cy="1800225"/>
          </a:xfrm>
          <a:prstGeom prst="rect">
            <a:avLst/>
          </a:prstGeom>
          <a:solidFill>
            <a:srgbClr val="141F30"/>
          </a:solidFill>
          <a:ln/>
        </p:spPr>
      </p:sp>
      <p:sp>
        <p:nvSpPr>
          <p:cNvPr id="9" name="Shape 7"/>
          <p:cNvSpPr/>
          <p:nvPr/>
        </p:nvSpPr>
        <p:spPr>
          <a:xfrm>
            <a:off x="782873" y="1867607"/>
            <a:ext cx="638175" cy="638175"/>
          </a:xfrm>
          <a:prstGeom prst="roundRect">
            <a:avLst>
              <a:gd name="adj" fmla="val 4277"/>
            </a:avLst>
          </a:prstGeom>
          <a:solidFill>
            <a:srgbClr val="0A162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1942" y="2048582"/>
            <a:ext cx="300038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5822" y="1883159"/>
            <a:ext cx="2643188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6"/>
              </a:lnSpc>
              <a:spcAft>
                <a:spcPts val="324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u₁ + u₂ = 100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5822" y="2157115"/>
            <a:ext cx="2643188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Could be 100 + 0 = 100. Or 1 + 99 = 100. Addition cannot tell the difference.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2859" y="3087142"/>
            <a:ext cx="4014788" cy="179546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4" name="Shape 12"/>
          <p:cNvSpPr/>
          <p:nvPr/>
        </p:nvSpPr>
        <p:spPr>
          <a:xfrm>
            <a:off x="782873" y="3665748"/>
            <a:ext cx="638175" cy="638175"/>
          </a:xfrm>
          <a:prstGeom prst="roundRect">
            <a:avLst>
              <a:gd name="adj" fmla="val 4277"/>
            </a:avLst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916186" y="3846723"/>
            <a:ext cx="371475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5822" y="3681301"/>
            <a:ext cx="2643188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6"/>
              </a:lnSpc>
              <a:spcAft>
                <a:spcPts val="324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u₁ × u₂ = 2500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5822" y="3955256"/>
            <a:ext cx="2643188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Maximized only when u₁ = u₂ = 50. Multiplication rewards equality.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45" y="1638746"/>
            <a:ext cx="3657600" cy="714375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9" name="Text 17"/>
          <p:cNvSpPr/>
          <p:nvPr/>
        </p:nvSpPr>
        <p:spPr>
          <a:xfrm>
            <a:off x="5135389" y="1771948"/>
            <a:ext cx="3271838" cy="2238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u₁ = 100, u₂ = 0: product is </a:t>
            </a:r>
            <a:pPr algn="l" indent="0" marL="0">
              <a:lnSpc>
                <a:spcPts val="1728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35389" y="1996083"/>
            <a:ext cx="3271838" cy="2238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u₁ = 50, u₂ = 50: product is </a:t>
            </a:r>
            <a:pPr algn="l" indent="0" marL="0">
              <a:lnSpc>
                <a:spcPts val="1728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2500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45" y="2507977"/>
            <a:ext cx="3657600" cy="695325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000" i="1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"Multiplication punishes inequality; addition does not."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8006" y="3358307"/>
            <a:ext cx="1143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90009" y="3357488"/>
            <a:ext cx="3405187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Nash product is zero when </a:t>
            </a:r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 player gets nothing</a:t>
            </a:r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above their disagreement point. This forces genuine sharing.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8006" y="3892823"/>
            <a:ext cx="1143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90009" y="3892004"/>
            <a:ext cx="3405187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why Nash chose the geometric mean, not the arithmetic mean.</a:t>
            </a:r>
            <a:endParaRPr lang="en-US" sz="9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859" y="1289000"/>
            <a:ext cx="4014788" cy="1800225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7745" y="1638746"/>
            <a:ext cx="3657600" cy="714375"/>
          </a:xfrm>
          <a:prstGeom prst="rect">
            <a:avLst/>
          </a:prstGeom>
        </p:spPr>
      </p:pic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745" y="2507977"/>
            <a:ext cx="3657600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548580" y="394767"/>
            <a:ext cx="14288" cy="20478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54100" y="256691"/>
            <a:ext cx="4300538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Quick Worked Example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7688" y="814313"/>
            <a:ext cx="8048625" cy="476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7688" y="999269"/>
            <a:ext cx="80486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Aft>
                <a:spcPts val="1418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friends, Aarav and Meera, share</a:t>
            </a:r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10 chocolates</a:t>
            </a:r>
            <a:pPr algn="l" indent="0" marL="0">
              <a:lnSpc>
                <a:spcPts val="1728"/>
              </a:lnSpc>
              <a:spcAft>
                <a:spcPts val="1418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Each keeps what the other gives up. What is the fair split?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7688" y="1397943"/>
            <a:ext cx="8048625" cy="376238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8" name="Text 6"/>
          <p:cNvSpPr/>
          <p:nvPr/>
        </p:nvSpPr>
        <p:spPr>
          <a:xfrm>
            <a:off x="552227" y="1402705"/>
            <a:ext cx="2681288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AARAV (U₁)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31319" y="1402705"/>
            <a:ext cx="2681288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MEERA (U₂)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10449" y="1402705"/>
            <a:ext cx="2681288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NASH PRODUCT (U₁ × U₂)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7688" y="1773659"/>
            <a:ext cx="8048625" cy="457200"/>
          </a:xfrm>
          <a:prstGeom prst="rect">
            <a:avLst/>
          </a:prstGeom>
          <a:solidFill>
            <a:srgbClr val="141F30"/>
          </a:solidFill>
          <a:ln/>
        </p:spPr>
      </p:sp>
      <p:sp>
        <p:nvSpPr>
          <p:cNvPr id="12" name="Text 10"/>
          <p:cNvSpPr/>
          <p:nvPr/>
        </p:nvSpPr>
        <p:spPr>
          <a:xfrm>
            <a:off x="552227" y="1778422"/>
            <a:ext cx="2681288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31319" y="1778422"/>
            <a:ext cx="2681288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10449" y="1778422"/>
            <a:ext cx="2681288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7688" y="2231008"/>
            <a:ext cx="8048625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6" name="Text 14"/>
          <p:cNvSpPr/>
          <p:nvPr/>
        </p:nvSpPr>
        <p:spPr>
          <a:xfrm>
            <a:off x="552227" y="2235771"/>
            <a:ext cx="2681288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31319" y="2235771"/>
            <a:ext cx="2681288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10449" y="2235771"/>
            <a:ext cx="2681288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7688" y="2689101"/>
            <a:ext cx="8048625" cy="566738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634511" y="2881982"/>
            <a:ext cx="957263" cy="1905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NASH SOLUTION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57808" y="2698626"/>
            <a:ext cx="2676525" cy="5572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33738" y="2698626"/>
            <a:ext cx="2676525" cy="5572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09667" y="2698626"/>
            <a:ext cx="2676525" cy="5572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7688" y="3256731"/>
            <a:ext cx="8048625" cy="457200"/>
          </a:xfrm>
          <a:prstGeom prst="rect">
            <a:avLst/>
          </a:prstGeom>
          <a:solidFill>
            <a:srgbClr val="141F30"/>
          </a:solidFill>
          <a:ln/>
        </p:spPr>
      </p:sp>
      <p:sp>
        <p:nvSpPr>
          <p:cNvPr id="25" name="Text 23"/>
          <p:cNvSpPr/>
          <p:nvPr/>
        </p:nvSpPr>
        <p:spPr>
          <a:xfrm>
            <a:off x="552227" y="3261494"/>
            <a:ext cx="2681288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31319" y="3261494"/>
            <a:ext cx="2681288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10449" y="3261494"/>
            <a:ext cx="2681288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7688" y="3714080"/>
            <a:ext cx="8048625" cy="461962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2227" y="3718843"/>
            <a:ext cx="2681288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31319" y="3718843"/>
            <a:ext cx="2681288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10449" y="3718843"/>
            <a:ext cx="2681288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7688" y="4695081"/>
            <a:ext cx="80486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spcBef>
                <a:spcPts val="101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5-5 split is the unique Nash solution.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Any deviation reduces the product for at least one player.</a:t>
            </a:r>
            <a:endParaRPr lang="en-US" sz="10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88" y="1397943"/>
            <a:ext cx="8048625" cy="376238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227" y="1402705"/>
            <a:ext cx="2681288" cy="371475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1319" y="1402705"/>
            <a:ext cx="2681288" cy="371475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688" y="1773659"/>
            <a:ext cx="8048625" cy="457200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2227" y="1778422"/>
            <a:ext cx="2681288" cy="452437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31319" y="1778422"/>
            <a:ext cx="2681288" cy="452437"/>
          </a:xfrm>
          <a:prstGeom prst="rect">
            <a:avLst/>
          </a:prstGeom>
        </p:spPr>
      </p:pic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7688" y="2231008"/>
            <a:ext cx="8048625" cy="457200"/>
          </a:xfrm>
          <a:prstGeom prst="rect">
            <a:avLst/>
          </a:prstGeom>
        </p:spPr>
      </p:pic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2227" y="2235771"/>
            <a:ext cx="2681288" cy="452437"/>
          </a:xfrm>
          <a:prstGeom prst="rect">
            <a:avLst/>
          </a:prstGeom>
        </p:spPr>
      </p:pic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231319" y="2235771"/>
            <a:ext cx="2681288" cy="452437"/>
          </a:xfrm>
          <a:prstGeom prst="rect">
            <a:avLst/>
          </a:prstGeom>
        </p:spPr>
      </p:pic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7688" y="2689101"/>
            <a:ext cx="8048625" cy="566738"/>
          </a:xfrm>
          <a:prstGeom prst="rect">
            <a:avLst/>
          </a:prstGeom>
        </p:spPr>
      </p:pic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57808" y="2698626"/>
            <a:ext cx="2676525" cy="557213"/>
          </a:xfrm>
          <a:prstGeom prst="rect">
            <a:avLst/>
          </a:prstGeom>
        </p:spPr>
      </p:pic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233738" y="2698626"/>
            <a:ext cx="2676525" cy="557213"/>
          </a:xfrm>
          <a:prstGeom prst="rect">
            <a:avLst/>
          </a:prstGeom>
        </p:spPr>
      </p:pic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47688" y="3256731"/>
            <a:ext cx="8048625" cy="457200"/>
          </a:xfrm>
          <a:prstGeom prst="rect">
            <a:avLst/>
          </a:prstGeom>
        </p:spPr>
      </p:pic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52227" y="3261494"/>
            <a:ext cx="2681288" cy="452437"/>
          </a:xfrm>
          <a:prstGeom prst="rect">
            <a:avLst/>
          </a:prstGeom>
        </p:spPr>
      </p:pic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231319" y="3261494"/>
            <a:ext cx="2681288" cy="452437"/>
          </a:xfrm>
          <a:prstGeom prst="rect">
            <a:avLst/>
          </a:prstGeom>
        </p:spPr>
      </p:pic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52227" y="3718843"/>
            <a:ext cx="2681288" cy="452437"/>
          </a:xfrm>
          <a:prstGeom prst="rect">
            <a:avLst/>
          </a:prstGeom>
        </p:spPr>
      </p:pic>
      <p:pic>
        <p:nvPicPr>
          <p:cNvPr id="49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231319" y="3718843"/>
            <a:ext cx="2681288" cy="4524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548580" y="374228"/>
            <a:ext cx="14288" cy="20478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53802" y="257547"/>
            <a:ext cx="7696200" cy="438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23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Application: India–USA Trade (2025-26)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7688" y="773162"/>
            <a:ext cx="8048625" cy="476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7688" y="931813"/>
            <a:ext cx="8048625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spcAft>
                <a:spcPts val="1215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Trump-era tariffs on Indian exports (up to 26%), India's retaliatory measures, and ongoing Bilateral Trade Agreement (BTA) negotiations — framed through Nash's model.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18" y="1442219"/>
            <a:ext cx="3886200" cy="1300163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178" y="1576239"/>
            <a:ext cx="365745" cy="2742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8510" y="1603809"/>
            <a:ext cx="98107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Player 1: USA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5434" y="1926878"/>
            <a:ext cx="857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912651" y="1928515"/>
            <a:ext cx="333375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Disagreement:</a:t>
            </a:r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Unilateral tariffs on Indian goods, reduced trade surplus access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35434" y="2305794"/>
            <a:ext cx="857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912651" y="2307431"/>
            <a:ext cx="333375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 from deal:</a:t>
            </a:r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Access to $1.4T Indian consumer market, pharma, IT partnerships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4709182" y="1442219"/>
            <a:ext cx="3886200" cy="1300163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5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743" y="1576239"/>
            <a:ext cx="365745" cy="27429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00563" y="1603809"/>
            <a:ext cx="107156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Player 2: India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95999" y="1926878"/>
            <a:ext cx="857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5073216" y="1928515"/>
            <a:ext cx="333375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Disagreement:</a:t>
            </a:r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Pivot to BRICS, EU partners, diversify export destinations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4895999" y="2305794"/>
            <a:ext cx="857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5073216" y="2307431"/>
            <a:ext cx="333375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 from deal:</a:t>
            </a:r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Preferential US market access for $80B+ in annual exports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547688" y="2896642"/>
            <a:ext cx="8048625" cy="947737"/>
          </a:xfrm>
          <a:prstGeom prst="rect">
            <a:avLst/>
          </a:prstGeom>
          <a:solidFill>
            <a:srgbClr val="38BDF8">
              <a:alpha val="8000"/>
            </a:srgbClr>
          </a:solidFill>
          <a:ln w="4763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6963" y="3028838"/>
            <a:ext cx="32861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FEASIBLE SET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826963" y="3217143"/>
            <a:ext cx="3286125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possible tariff reductions, quota adjustments, and sectoral concession combinations across pharma, IT, agriculture, and manufacturing.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4569619" y="3165686"/>
            <a:ext cx="4763" cy="409575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5030912" y="3111140"/>
            <a:ext cx="32861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NASH SOLUTION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5030912" y="3300487"/>
            <a:ext cx="3286125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tariff/quota mix that maximizes the product of both countries' net gains above their walk-away alternatives.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580" y="374228"/>
            <a:ext cx="14288" cy="20478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654248" y="257547"/>
            <a:ext cx="7453312" cy="438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23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India–USA: Where the Bargain Is Breaking Down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47688" y="773162"/>
            <a:ext cx="8048625" cy="476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47613" y="932817"/>
            <a:ext cx="3476625" cy="3952875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2376" y="936241"/>
            <a:ext cx="3467100" cy="261937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TWO BUTTONS MEME (INDIA EDITION)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919213" y="2132633"/>
            <a:ext cx="733425" cy="733425"/>
          </a:xfrm>
          <a:prstGeom prst="ellipse">
            <a:avLst/>
          </a:prstGeom>
          <a:solidFill>
            <a:srgbClr val="0A1628"/>
          </a:solidFill>
          <a:ln w="9525">
            <a:solidFill>
              <a:srgbClr val="38BDF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36699" y="2967819"/>
            <a:ext cx="1457325" cy="723900"/>
          </a:xfrm>
          <a:prstGeom prst="roundRect">
            <a:avLst>
              <a:gd name="adj" fmla="val 3324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 the tariff deal (lose some farm protection)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377901" y="2967819"/>
            <a:ext cx="1457325" cy="723900"/>
          </a:xfrm>
          <a:prstGeom prst="roundRect">
            <a:avLst>
              <a:gd name="adj" fmla="val 3324"/>
            </a:avLst>
          </a:prstGeom>
          <a:solidFill>
            <a:srgbClr val="94A3B8">
              <a:alpha val="10000"/>
            </a:srgbClr>
          </a:solidFill>
          <a:ln w="9525">
            <a:solidFill>
              <a:srgbClr val="94A3B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 domestic farmers (risk losing US market)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742963" y="3793703"/>
            <a:ext cx="10858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i="1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*visible sweating*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4389574" y="1290600"/>
            <a:ext cx="4205288" cy="7620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4" name="Text 11"/>
          <p:cNvSpPr/>
          <p:nvPr/>
        </p:nvSpPr>
        <p:spPr>
          <a:xfrm>
            <a:off x="4587218" y="1398352"/>
            <a:ext cx="38195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spcAft>
                <a:spcPts val="324"/>
              </a:spcAft>
              <a:buNone/>
            </a:pPr>
            <a:r>
              <a:rPr lang="en-US" sz="9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Violates: Full Information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87218" y="1616943"/>
            <a:ext cx="3819525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sides hold back private information about their true red lines, creating </a:t>
            </a:r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information asymmetry</a:t>
            </a:r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389574" y="2182899"/>
            <a:ext cx="4205288" cy="7620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7" name="Text 14"/>
          <p:cNvSpPr/>
          <p:nvPr/>
        </p:nvSpPr>
        <p:spPr>
          <a:xfrm>
            <a:off x="4587218" y="2290651"/>
            <a:ext cx="38195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spcAft>
                <a:spcPts val="324"/>
              </a:spcAft>
              <a:buNone/>
            </a:pPr>
            <a:r>
              <a:rPr lang="en-US" sz="9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Violates: Symmetry Axiom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87218" y="2509242"/>
            <a:ext cx="3819525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US GDP is 8x India's. Bargaining power is </a:t>
            </a:r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deeply asymmetric</a:t>
            </a:r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Nash's equal-skill assumption does not hold.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389574" y="3075198"/>
            <a:ext cx="4205288" cy="7620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0" name="Text 17"/>
          <p:cNvSpPr/>
          <p:nvPr/>
        </p:nvSpPr>
        <p:spPr>
          <a:xfrm>
            <a:off x="4587218" y="3182950"/>
            <a:ext cx="38195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spcAft>
                <a:spcPts val="324"/>
              </a:spcAft>
              <a:buNone/>
            </a:pPr>
            <a:r>
              <a:rPr lang="en-US" sz="9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Violates: Rationality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87218" y="3401541"/>
            <a:ext cx="3819525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Domestic political pressure on farm protections and electoral considerations override pure utility maximization.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389574" y="3966716"/>
            <a:ext cx="4205288" cy="561975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i="1" dirty="0">
                <a:solidFill>
                  <a:srgbClr val="F1F5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"Real bargains deviate from Nash precisely where his idealizations break."</a:t>
            </a:r>
            <a:endParaRPr lang="en-US" sz="9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9574" y="1290600"/>
            <a:ext cx="4205288" cy="76200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9574" y="2182899"/>
            <a:ext cx="4205288" cy="762000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9574" y="3075198"/>
            <a:ext cx="4205288" cy="76200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89574" y="3966716"/>
            <a:ext cx="4205288" cy="5619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580" y="394767"/>
            <a:ext cx="14288" cy="20478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653504" y="256691"/>
            <a:ext cx="4152900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Extensions Beyond Nash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7688" y="814313"/>
            <a:ext cx="8048625" cy="476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47688" y="1025500"/>
            <a:ext cx="80486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spcAft>
                <a:spcPts val="162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Nash's solution assumes equal power. The real world often requires richer models.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7688" y="1423467"/>
            <a:ext cx="8048625" cy="1066800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8563" y="1657796"/>
            <a:ext cx="1095375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Nash (Asymmetric)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83332" y="2119201"/>
            <a:ext cx="98583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Rubinstein (1950+)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199159" y="1802048"/>
            <a:ext cx="4763" cy="309562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477877" y="1664122"/>
            <a:ext cx="58388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05"/>
              </a:spcAft>
              <a:buNone/>
            </a:pPr>
            <a:r>
              <a:rPr lang="en-US" sz="10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u₁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^α</a:t>
            </a:r>
            <a:pPr algn="l" indent="0" marL="0">
              <a:lnSpc>
                <a:spcPts val="1620"/>
              </a:lnSpc>
              <a:spcAft>
                <a:spcPts val="405"/>
              </a:spcAft>
              <a:buNone/>
            </a:pPr>
            <a:r>
              <a:rPr lang="en-US" sz="10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× u₂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^(1-α)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477877" y="1921073"/>
            <a:ext cx="5838825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players have unequal bargaining power, we assign weights. Player 1 gets exponent α, Player 2 gets (1-α). When α = 0.5, we recover the original Nash solution.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7688" y="2620938"/>
            <a:ext cx="8048625" cy="1066800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8563" y="2855268"/>
            <a:ext cx="1095375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Rubinstein Model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266676" y="3316672"/>
            <a:ext cx="2190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1982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199159" y="2999519"/>
            <a:ext cx="4763" cy="309562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2477877" y="2906688"/>
            <a:ext cx="5838825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a non-cooperative micro-foundation for Nash's axiomatic solution. Players take turns making offers with a time discount — as the time between offers shrinks to zero, the equilibrium converges exactly to the Nash solution. The cooperative and non-cooperative approaches agree.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47688" y="3818409"/>
            <a:ext cx="8048625" cy="1066800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8563" y="4052739"/>
            <a:ext cx="1095375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Kalai-Smorodinsky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266676" y="4514143"/>
            <a:ext cx="2190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1975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2199159" y="4196990"/>
            <a:ext cx="4763" cy="309562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2477877" y="4104159"/>
            <a:ext cx="5838825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Drops the Independence of Irrelevant Alternatives axiom and replaces it with monotonicity. The solution always gives each player a proportional share of their maximum possible gain. Better respects the full structure of the feasible set.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65" y="0"/>
            <a:ext cx="2011635" cy="201163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31865"/>
            <a:ext cx="2011635" cy="201163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48580" y="415305"/>
            <a:ext cx="14288" cy="20478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2"/>
          <p:cNvSpPr/>
          <p:nvPr/>
        </p:nvSpPr>
        <p:spPr>
          <a:xfrm>
            <a:off x="654360" y="258180"/>
            <a:ext cx="2809875" cy="5191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8" name="Shape 3"/>
          <p:cNvSpPr/>
          <p:nvPr/>
        </p:nvSpPr>
        <p:spPr>
          <a:xfrm>
            <a:off x="547688" y="855390"/>
            <a:ext cx="8048625" cy="4763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9" name="Shape 4"/>
          <p:cNvSpPr/>
          <p:nvPr/>
        </p:nvSpPr>
        <p:spPr>
          <a:xfrm>
            <a:off x="547688" y="1391096"/>
            <a:ext cx="8048625" cy="919162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828080" y="1576834"/>
            <a:ext cx="547687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28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6"/>
          <p:cNvSpPr/>
          <p:nvPr/>
        </p:nvSpPr>
        <p:spPr>
          <a:xfrm>
            <a:off x="1650504" y="1695859"/>
            <a:ext cx="14288" cy="30956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7"/>
          <p:cNvSpPr/>
          <p:nvPr/>
        </p:nvSpPr>
        <p:spPr>
          <a:xfrm>
            <a:off x="1939417" y="1633389"/>
            <a:ext cx="1143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2144613" y="1626282"/>
            <a:ext cx="41195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Fair bargaining maximizes the product of utility gains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939937" y="1897968"/>
            <a:ext cx="6296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the sum, not the average. The Nash product u₁ × u₂ is the uniquely fair criterion that rewards genuine sharing.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47688" y="2464743"/>
            <a:ext cx="8048625" cy="995362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28080" y="2688580"/>
            <a:ext cx="547687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28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Shape 12"/>
          <p:cNvSpPr/>
          <p:nvPr/>
        </p:nvSpPr>
        <p:spPr>
          <a:xfrm>
            <a:off x="1650504" y="2807605"/>
            <a:ext cx="14288" cy="30956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3"/>
          <p:cNvSpPr/>
          <p:nvPr/>
        </p:nvSpPr>
        <p:spPr>
          <a:xfrm>
            <a:off x="1939417" y="2656061"/>
            <a:ext cx="1143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145990" y="2648955"/>
            <a:ext cx="34337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simple axioms force this unique answer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939230" y="2919264"/>
            <a:ext cx="6376988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Pareto optimality, symmetry, independence of irrelevant alternatives, and affine invariance together pin down exactly one solution.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47688" y="3615854"/>
            <a:ext cx="8048625" cy="995362"/>
          </a:xfrm>
          <a:prstGeom prst="rect">
            <a:avLst/>
          </a:prstGeom>
          <a:solidFill>
            <a:srgbClr val="1B2838"/>
          </a:solidFill>
          <a:ln w="4763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28080" y="3839691"/>
            <a:ext cx="547687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2800" b="1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Shape 18"/>
          <p:cNvSpPr/>
          <p:nvPr/>
        </p:nvSpPr>
        <p:spPr>
          <a:xfrm>
            <a:off x="1650504" y="3958717"/>
            <a:ext cx="14288" cy="30956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19"/>
          <p:cNvSpPr/>
          <p:nvPr/>
        </p:nvSpPr>
        <p:spPr>
          <a:xfrm>
            <a:off x="1939417" y="3807172"/>
            <a:ext cx="1143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146548" y="3800066"/>
            <a:ext cx="583406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bargains (including India-US trade) are deviations from this benchmark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939230" y="4070375"/>
            <a:ext cx="6376988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Nash's model is most useful as a benchmark. Where real deals fail, one of his four axioms has been violated. Diagnose the axiom to fix the deal.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45" y="-13395"/>
            <a:ext cx="2011635" cy="20116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076538" y="2203438"/>
            <a:ext cx="2990850" cy="8239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80"/>
              </a:lnSpc>
              <a:spcAft>
                <a:spcPts val="203"/>
              </a:spcAft>
              <a:buNone/>
            </a:pPr>
            <a:r>
              <a:rPr lang="en-US" sz="43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4300" dirty="0"/>
          </a:p>
        </p:txBody>
      </p:sp>
      <p:sp>
        <p:nvSpPr>
          <p:cNvPr id="6" name="Text 2"/>
          <p:cNvSpPr/>
          <p:nvPr/>
        </p:nvSpPr>
        <p:spPr>
          <a:xfrm>
            <a:off x="4302882" y="3052539"/>
            <a:ext cx="538163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607"/>
              </a:spcAft>
              <a:buNone/>
            </a:pPr>
            <a:r>
              <a:rPr lang="en-US" sz="18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Q&amp;A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2890838" y="3678957"/>
            <a:ext cx="33623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Aft>
                <a:spcPts val="2025"/>
              </a:spcAft>
              <a:buNone/>
            </a:pPr>
            <a:r>
              <a:rPr lang="en-US" sz="1000" i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on Nash. Inspired by Newton School of Technology.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617119" y="4126669"/>
            <a:ext cx="1909762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1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pPr algn="ctr" indent="0" marL="0">
              <a:lnSpc>
                <a:spcPts val="190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Narendra Singh </a:t>
            </a:r>
            <a:pPr algn="ctr" indent="0" marL="0">
              <a:lnSpc>
                <a:spcPts val="190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 2401010292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617119" y="4368143"/>
            <a:ext cx="1909762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1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pPr algn="ctr" indent="0" marL="0">
              <a:lnSpc>
                <a:spcPts val="190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Ranajeet Roy </a:t>
            </a:r>
            <a:pPr algn="ctr" indent="0" marL="0">
              <a:lnSpc>
                <a:spcPts val="190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 2401010372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617119" y="4609616"/>
            <a:ext cx="1909762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1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pPr algn="ctr" indent="0" marL="0">
              <a:lnSpc>
                <a:spcPts val="190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Abhijeet Kumar </a:t>
            </a:r>
            <a:pPr algn="ctr" indent="0" marL="0">
              <a:lnSpc>
                <a:spcPts val="190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 2401010015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195600" y="5005313"/>
            <a:ext cx="27527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spcBef>
                <a:spcPts val="1215"/>
              </a:spcBef>
              <a:buNone/>
            </a:pPr>
            <a:r>
              <a:rPr lang="en-US" sz="700" dirty="0">
                <a:solidFill>
                  <a:srgbClr val="38BDF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NEWTON SCHOOL OF TECHNOLOGY — MAY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2026-05-08T05:36:53Z</dcterms:created>
  <dcterms:modified xsi:type="dcterms:W3CDTF">2026-05-08T05:36:53Z</dcterms:modified>
</cp:coreProperties>
</file>